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CB25A-35DB-4B8A-8B31-15A937C287D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81390-5A66-4EB0-BC81-942C7C49B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52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A023-BEFD-1477-5577-8B30B8FE3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69407-ACE9-7297-B9E4-F67728E30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FA8E1-1830-B61A-080A-E8584E5E4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2D89-C4D1-7324-5BE3-52BA5507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DC9A1-CA37-162F-EC49-AB05E3E8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8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7A15-E8AE-59B1-8E0A-15C9572E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2B718-A670-D9B6-B7FE-1D166BD37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A441-EEE1-E602-FC93-7212F917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7992-73EB-2034-D0D1-09795FE3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8BFBB-78F0-B4F5-F7BF-C191A94B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4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8C44-B782-EC07-9059-939082353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B58F1-A04F-3555-BC0C-D1FEAA9A9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63651-CF4D-BFB4-5745-799C93A5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A3D9-A29D-B276-11F3-685F6EAB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FB53-0A37-CA24-B9A0-B25C235E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6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9317-D52C-9CD3-7373-D37A71AF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DA288-ED0F-1122-EAA5-2F826FDB9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47C8D-B66B-C4F9-8C99-4C010C59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28650-9621-F892-A603-29E769D1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3F9C0-E8FD-6D73-5DDC-BB835D10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51540-892F-48DA-3C37-04F9CA73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6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8810-DB7D-05C4-281A-40D4DC63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3FF69-0A44-8B61-751A-0535E1ED8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13B0A-257F-E4AA-3E25-4553579CF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E060D-47D9-4595-DD24-8947B0B24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F7680-D461-20AC-215B-F2C3AE446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11936-3963-D94E-01A1-F5DB29F0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13413-54D3-2FB0-5E6B-6AD4EBDB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74EFA-3875-EB14-C726-01ED7DF4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52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5B86-4FFC-0D14-3555-CEC44C37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A1CF5-5353-B64F-07F6-40EFA6A1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F02AD-F643-37B2-10F1-A6608EB0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648A6-045C-2DB0-27E1-4D3B0712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05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93FE2-DDF9-1BC8-A1C2-2EE76F51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9C7D6-A908-2D3D-317F-09CF5649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D7ADE-0709-0DCC-C7A2-DC15EF9F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535D-4343-F930-6527-0B09C48B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B82A-6BC8-9322-C73D-F55965702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789D2-754B-3ADD-DBD0-864946645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EC3E-E252-7EDF-5689-C43B215A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162A3-5A50-C3FA-9950-6158A448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7C569-052F-DAAF-1200-31A53B7F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08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51A2-A776-B13A-567A-D1A18F6D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B5175-8003-CFA4-BA0D-9592DC322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0AA30-B098-30D3-26FB-14A34CFEA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78D86-0C3F-6667-877D-11D1EF21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8B066-5AA7-ADC2-0257-D24F2685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B3C2D-8E75-3A11-000F-44983B60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38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E219-9884-A08D-32FC-A9A92FAC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B4498-3C4D-B1AA-8FF5-91500ED0A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3931-6BF5-DF75-29C7-121A9D3B3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210A8-035A-BDA4-88B2-787743CE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8FEA-2D74-72DF-A94B-99FA737A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8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9926F-EB78-DB39-09FE-0598FEF9F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999F1-CCA4-82E2-61F6-541B19548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F636-EEC6-01C0-4A44-3EC7D0C7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6C47D-8EB9-4B27-59C2-499CAE7D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7A8AB-5AAE-7C01-FDE0-02CC6A9C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21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9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819A0-16D5-EB02-A3FD-284D90D5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32668-E926-DC4B-F6E2-820F05AD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7CEC0-98B8-2AF9-4F6F-4E1B1917C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BE3BE-04F0-4136-8D5D-B223A4E831C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50168-11D9-19B2-D11B-D96FC477F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D635F-A91F-1323-A008-404582AA9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FC500-9691-4270-910C-B6091B9AF7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6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CA671-47B5-CF01-F333-D2827C0E1EB5}"/>
              </a:ext>
            </a:extLst>
          </p:cNvPr>
          <p:cNvSpPr txBox="1"/>
          <p:nvPr/>
        </p:nvSpPr>
        <p:spPr>
          <a:xfrm>
            <a:off x="347241" y="185724"/>
            <a:ext cx="748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Router: Right Model Right Time</a:t>
            </a:r>
            <a:endParaRPr lang="en-IN" dirty="0"/>
          </a:p>
        </p:txBody>
      </p:sp>
      <p:pic>
        <p:nvPicPr>
          <p:cNvPr id="4" name="Picture 3" descr="A screenshot of a video">
            <a:extLst>
              <a:ext uri="{FF2B5EF4-FFF2-40B4-BE49-F238E27FC236}">
                <a16:creationId xmlns:a16="http://schemas.microsoft.com/office/drawing/2014/main" id="{56414D52-2F78-DA10-A617-1322294ED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870"/>
            <a:ext cx="12192000" cy="56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4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A4122-5FD3-4503-B13C-39088D45315C}"/>
              </a:ext>
            </a:extLst>
          </p:cNvPr>
          <p:cNvSpPr txBox="1"/>
          <p:nvPr/>
        </p:nvSpPr>
        <p:spPr>
          <a:xfrm>
            <a:off x="694481" y="613458"/>
            <a:ext cx="106487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 ROI: Cost &amp; Efficiency Optimization</a:t>
            </a:r>
          </a:p>
          <a:p>
            <a:r>
              <a:rPr lang="en-IN" i="1" dirty="0"/>
              <a:t>(Intelligent Router Approach)</a:t>
            </a:r>
            <a:endParaRPr lang="en-IN" dirty="0"/>
          </a:p>
          <a:p>
            <a:r>
              <a:rPr lang="en-IN" b="1" dirty="0"/>
              <a:t>Model Router</a:t>
            </a:r>
            <a:r>
              <a:rPr lang="en-IN" dirty="0"/>
              <a:t> – </a:t>
            </a:r>
            <a:r>
              <a:rPr lang="en-US" dirty="0"/>
              <a:t>Routes prompts to the right model based on complexity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Lower latency &amp; cost; configurable for cost, quality, or balance</a:t>
            </a:r>
            <a:br>
              <a:rPr lang="en-IN" dirty="0"/>
            </a:br>
            <a:r>
              <a:rPr lang="en-IN" b="1" dirty="0"/>
              <a:t>Flexibility:</a:t>
            </a:r>
            <a:r>
              <a:rPr lang="en-IN" dirty="0"/>
              <a:t> Supports non-OpenAI models (e.g., Claude)</a:t>
            </a:r>
          </a:p>
          <a:p>
            <a:endParaRPr lang="en-IN" dirty="0"/>
          </a:p>
          <a:p>
            <a:r>
              <a:rPr lang="en-IN" b="1" dirty="0"/>
              <a:t>Prompt Caching</a:t>
            </a:r>
            <a:r>
              <a:rPr lang="en-IN" dirty="0"/>
              <a:t> – </a:t>
            </a:r>
            <a:r>
              <a:rPr lang="en-US" dirty="0"/>
              <a:t>Identifies repeatable patterns to cut token usage.</a:t>
            </a:r>
            <a:br>
              <a:rPr lang="en-IN" dirty="0"/>
            </a:br>
            <a:r>
              <a:rPr lang="en-IN" b="1" dirty="0"/>
              <a:t>Impact:</a:t>
            </a:r>
            <a:r>
              <a:rPr lang="en-IN" dirty="0"/>
              <a:t> Up to 80% faster TTFT; major cost savings </a:t>
            </a:r>
          </a:p>
          <a:p>
            <a:r>
              <a:rPr lang="en-IN" b="1" dirty="0"/>
              <a:t>Fine Tuning</a:t>
            </a:r>
            <a:r>
              <a:rPr lang="en-IN" dirty="0"/>
              <a:t> – </a:t>
            </a:r>
            <a:r>
              <a:rPr lang="en-US" dirty="0"/>
              <a:t>Optimize smaller models for high performance → cost savings.</a:t>
            </a:r>
            <a:endParaRPr lang="en-IN" dirty="0"/>
          </a:p>
          <a:p>
            <a:r>
              <a:rPr lang="en-IN" b="1" dirty="0"/>
              <a:t>Batch Processing</a:t>
            </a:r>
            <a:r>
              <a:rPr lang="en-IN" dirty="0"/>
              <a:t> – </a:t>
            </a:r>
            <a:r>
              <a:rPr lang="en-US" dirty="0"/>
              <a:t>50% cost reduction for large-scale, non-interactive workloads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94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Cost &amp; Efficiency Optimization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66241"/>
            <a:ext cx="1056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336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Router: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Routes by complexity; configurable for cost/quality/balanced modes; supports agentic scenarios with tools</a:t>
            </a:r>
            <a:endParaRPr lang="en-US" dirty="0"/>
          </a:p>
          <a:p>
            <a:pPr marL="457189" indent="-457189">
              <a:lnSpc>
                <a:spcPts val="336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savings per cached token; workload savings 30-70%; up to 85% latency reduction</a:t>
            </a:r>
            <a:endParaRPr lang="en-US" dirty="0"/>
          </a:p>
          <a:p>
            <a:pPr marL="457189" indent="-457189">
              <a:lnSpc>
                <a:spcPts val="336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Smaller models match large model performance at lower cost</a:t>
            </a:r>
            <a:endParaRPr lang="en-US" dirty="0"/>
          </a:p>
          <a:p>
            <a:pPr marL="457189" indent="-457189">
              <a:lnSpc>
                <a:spcPts val="336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50% discount for non-interactive, high-throughput workloads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&#10;&#10;AI-generated content may be incorrect.">
            <a:extLst>
              <a:ext uri="{FF2B5EF4-FFF2-40B4-BE49-F238E27FC236}">
                <a16:creationId xmlns:a16="http://schemas.microsoft.com/office/drawing/2014/main" id="{EDE3332C-6DE9-FA02-5716-631945BCC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2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357F59-55D2-6DA9-2E39-C4F216ED5C51}"/>
              </a:ext>
            </a:extLst>
          </p:cNvPr>
          <p:cNvSpPr txBox="1"/>
          <p:nvPr/>
        </p:nvSpPr>
        <p:spPr>
          <a:xfrm>
            <a:off x="3047036" y="1711365"/>
            <a:ext cx="60940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 ROI: Governance &amp; Operational Productivity</a:t>
            </a:r>
          </a:p>
          <a:p>
            <a:pPr>
              <a:buNone/>
            </a:pPr>
            <a:r>
              <a:rPr lang="en-US" i="1" dirty="0"/>
              <a:t>(The Control Plane)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Observability &amp; Governance</a:t>
            </a:r>
            <a:br>
              <a:rPr lang="en-US" dirty="0"/>
            </a:br>
            <a:r>
              <a:rPr lang="en-US" dirty="0"/>
              <a:t>Guardrails, risk reduction, and visibility for confident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Cost Transparency</a:t>
            </a:r>
            <a:br>
              <a:rPr lang="en-US" dirty="0"/>
            </a:br>
            <a:r>
              <a:rPr lang="en-US" dirty="0"/>
              <a:t>Live cost estimates in Foundry portal → better spend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Reduced Manual Overhead</a:t>
            </a:r>
            <a:br>
              <a:rPr lang="en-US" dirty="0"/>
            </a:br>
            <a:r>
              <a:rPr lang="en-US" dirty="0"/>
              <a:t>Priority Processing minimizes manual reviews &amp; capacity planning → frees engineering time</a:t>
            </a:r>
          </a:p>
        </p:txBody>
      </p:sp>
    </p:spTree>
    <p:extLst>
      <p:ext uri="{BB962C8B-B14F-4D97-AF65-F5344CB8AC3E}">
        <p14:creationId xmlns:p14="http://schemas.microsoft.com/office/powerpoint/2010/main" val="113629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236</Words>
  <Application>Microsoft Office PowerPoint</Application>
  <PresentationFormat>Widescreen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PRABUDDHA LAYEK</dc:creator>
  <cp:lastModifiedBy>PRABUDDHA LAYEK</cp:lastModifiedBy>
  <cp:revision>2</cp:revision>
  <dcterms:created xsi:type="dcterms:W3CDTF">2025-11-25T06:53:49Z</dcterms:created>
  <dcterms:modified xsi:type="dcterms:W3CDTF">2025-11-25T08:37:04Z</dcterms:modified>
</cp:coreProperties>
</file>