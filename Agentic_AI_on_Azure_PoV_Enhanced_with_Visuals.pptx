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PoV: Agentic AI on Azure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Architecture • Use Cases • TCS Perspective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Executive Summary</a:t>
            </a:r>
          </a:p>
          <a:p>
            <a:r>
              <a:t>Architecture</a:t>
            </a:r>
          </a:p>
          <a:p>
            <a:r>
              <a:t>Use Cases</a:t>
            </a:r>
          </a:p>
          <a:p>
            <a:r>
              <a:t>Maturity Model</a:t>
            </a:r>
          </a:p>
          <a:p>
            <a:r>
              <a:t>TCS Differentiators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Agentic AI moves enterprises from assistance to autonomy.</a:t>
            </a:r>
          </a:p>
          <a:p>
            <a:r>
              <a:t>Azure enables secure, scalable agentic systems.</a:t>
            </a:r>
          </a:p>
          <a:p>
            <a:r>
              <a:t>25–50% uplift in automation, 40–65% faster cycles.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Interaction Layer (Teams, Web, Mobile)</a:t>
            </a:r>
          </a:p>
          <a:p>
            <a:r>
              <a:t>Agent Orchestration (Semantic Kernel, Autogen)</a:t>
            </a:r>
          </a:p>
          <a:p>
            <a:r>
              <a:t>Model Execution (Azure OpenAI)</a:t>
            </a:r>
          </a:p>
          <a:p>
            <a:r>
              <a:t>Tools Layer (Functions, Logic Apps)</a:t>
            </a:r>
          </a:p>
          <a:p>
            <a:r>
              <a:t>Memory (Vector DB, Search)</a:t>
            </a:r>
          </a:p>
          <a:p>
            <a:r>
              <a:t>Data Platforms (Fabric, Synapse, SQL)</a:t>
            </a:r>
          </a:p>
          <a:p>
            <a:r>
              <a:t>Governance &amp; 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Enterprise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Autonomous ITSM</a:t>
            </a:r>
          </a:p>
          <a:p>
            <a:r>
              <a:t>Finance Close Automation</a:t>
            </a:r>
          </a:p>
          <a:p>
            <a:r>
              <a:t>KYC/AML Agents</a:t>
            </a:r>
          </a:p>
          <a:p>
            <a:r>
              <a:t>Predictive Maintenance</a:t>
            </a:r>
          </a:p>
          <a:p>
            <a:r>
              <a:t>Procurement Optimization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AI Maturity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Level 1 – Assisted Intelligence</a:t>
            </a:r>
          </a:p>
          <a:p>
            <a:r>
              <a:t>Level 2 – Augmented Intelligence</a:t>
            </a:r>
          </a:p>
          <a:p>
            <a:r>
              <a:t>Level 3 – Autonomous Agents</a:t>
            </a:r>
          </a:p>
          <a:p>
            <a:r>
              <a:t>Level 4 – Multi-Agent Ecosystems</a:t>
            </a:r>
          </a:p>
          <a:p>
            <a:r>
              <a:t>Level 5 – Autonomous Enterprise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TCS Differentiators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Azure Engineering Partnership</a:t>
            </a:r>
          </a:p>
          <a:p>
            <a:r>
              <a:t>Industry-Focused Accelerators</a:t>
            </a:r>
          </a:p>
          <a:p>
            <a:r>
              <a:t>MFDM™ &amp; Business 4.0™ Alignment</a:t>
            </a:r>
          </a:p>
          <a:p>
            <a:r>
              <a:t>Proven AI Transformation Playbooks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BFSI – Key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KYC/AML Autonomous Processing</a:t>
            </a:r>
          </a:p>
          <a:p>
            <a:r>
              <a:t>Fraud Investigation Agents</a:t>
            </a:r>
          </a:p>
          <a:p>
            <a:r>
              <a:t>Risk Scoring Automation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Retail &amp; CPG – Key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Smart Pricing Agents</a:t>
            </a:r>
          </a:p>
          <a:p>
            <a:r>
              <a:t>Demand Forecasting Agents</a:t>
            </a:r>
          </a:p>
          <a:p>
            <a:r>
              <a:t>Supply Chain Optimization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Manufacturing – Key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Predictive Maintenance Agents</a:t>
            </a:r>
          </a:p>
          <a:p>
            <a:r>
              <a:t>Digital Twin Automation</a:t>
            </a:r>
          </a:p>
          <a:p>
            <a:r>
              <a:t>Quality Inspection Agents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Healthcare – Key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Care Pathway Agents</a:t>
            </a:r>
          </a:p>
          <a:p>
            <a:r>
              <a:t>Claims Automation</a:t>
            </a:r>
          </a:p>
          <a:p>
            <a:r>
              <a:t>Clinical Decision Support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Telecom – Key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Network Optimization Agents</a:t>
            </a:r>
          </a:p>
          <a:p>
            <a:r>
              <a:t>Customer Value Management Agents</a:t>
            </a:r>
          </a:p>
          <a:p>
            <a:r>
              <a:t>Fault Resolution Agents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AI Adoption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Phase 1: Discover &amp; Strategize – Identify use cases, readiness assessment</a:t>
            </a:r>
          </a:p>
          <a:p>
            <a:r>
              <a:t>Phase 2: Pilot – Build PoCs, validate agent behavior &amp; safety</a:t>
            </a:r>
          </a:p>
          <a:p>
            <a:r>
              <a:t>Phase 3: Scale – Integrate agents, implement governance, expand coverage</a:t>
            </a:r>
          </a:p>
          <a:p>
            <a:r>
              <a:t>Phase 4: Transform – Multi-agent ecosystems, autonomous enterprise operations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 Model for Agentic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Baseline Effort Analysis (current manual hours)</a:t>
            </a:r>
          </a:p>
          <a:p>
            <a:r>
              <a:t>Automation Potential (% tasks reducible via agents)</a:t>
            </a:r>
          </a:p>
          <a:p>
            <a:r>
              <a:t>Cycle-Time Compression Benefits</a:t>
            </a:r>
          </a:p>
          <a:p>
            <a:r>
              <a:t>Quality Gains (error reduction value)</a:t>
            </a:r>
          </a:p>
          <a:p>
            <a:r>
              <a:t>Azure Operational Cost Model (model inference, agents, tooling)</a:t>
            </a:r>
          </a:p>
          <a:p>
            <a:r>
              <a:t>Net Annual Business Value (gains - cloud cost)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AI Maturity Model</a:t>
            </a:r>
          </a:p>
        </p:txBody>
      </p:sp>
      <p:pic>
        <p:nvPicPr>
          <p:cNvPr id="3" name="Picture 2" descr="maturity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AI Adoption Roadmap</a:t>
            </a:r>
          </a:p>
        </p:txBody>
      </p:sp>
      <p:pic>
        <p:nvPicPr>
          <p:cNvPr id="3" name="Picture 2" descr="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