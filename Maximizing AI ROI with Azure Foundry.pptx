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264" y="1720215"/>
            <a:ext cx="50633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Maximizing AI ROI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83619" y="2558415"/>
            <a:ext cx="35767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Foundry Architectural Pillars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12053" y="3183255"/>
            <a:ext cx="451989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AI Investments into Measurable Business Value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86764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47649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 of ROI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4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Cost Reduction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202692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routing &amp; token optimization minimize spending through intelligent resource allocation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915364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Performance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387804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latency with SLA-backed reliability ensures consistent user experience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4276249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Governance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48689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 &amp; control plane ensures enterprise-grade operational excellence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1: Cost &amp; Efficiency Optimization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792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Router: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Routes by complexity; configurable for cost/quality/balanced modes; supports agentic scenarios with tools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90% savings per cached token; workload savings 30-70%; up to 85% latency reduction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Smaller models match large model performance at lower cost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50% discount for non-interactive, high-throughput workloads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2: Performance &amp; Reliability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792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Processing (PAGO):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SLA-backed latency (99% &gt; 80 Tokens Per Second p50); prevents customer abandonment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Planning: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Dynamic spillover reduces reserved PTU by 30-50%; eliminates over-provisioning cycles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Spillover (PTU):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Graceful overflow to elastic compute ensures high availability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Attention window 1s (grab) → 10s (retain); prevents revenue loss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3: Governance &amp; Operational Productivity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Cost Transparency: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Estimated costs visible in portal as workflows are developed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Guardrails: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Governance controls for risk reduction &amp; compliance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Manual Overhead: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Automated capacity planning frees engineering resources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Benefits: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Enterprise-grade visibility &amp; confidence for deployment at scale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5476" y="1325880"/>
            <a:ext cx="1532930" cy="12992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12939" y="2853691"/>
            <a:ext cx="2118122" cy="12992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77258" y="4381500"/>
            <a:ext cx="1589484" cy="12992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03797" y="5909311"/>
            <a:ext cx="1736408" cy="12992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ROI: Case Study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0276" y="1630680"/>
            <a:ext cx="9417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366%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110276" y="2106930"/>
            <a:ext cx="9417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achieved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7739" y="3158491"/>
            <a:ext cx="15386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 months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817739" y="3634741"/>
            <a:ext cx="15386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82058" y="4686300"/>
            <a:ext cx="9994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082058" y="5162550"/>
            <a:ext cx="99948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gain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08597" y="6214111"/>
            <a:ext cx="11493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008597" y="6690361"/>
            <a:ext cx="114934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scaling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Cost: AI Business Value Drivers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Industry benchmarks: 10-30% deal size lift; accelerated sales cycles through AI-powered insights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 to 55% churn reduction in mature AI implementations; improved NPS through predictive engagement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Time-to-Market: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Accelerated experimentation &amp; innovation cycles; competitive differentiation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Quality: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Better forecasting, reduced errors in analytics; intelligent autonomous workflows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AI: Strategic Productivity Multiplier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Workflows: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Multi-step processes execute 24/7; requires governance and observability guardrails for enterprise resilience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Reallocation: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Teams freed from repetitive tasks to focus on strategic, high-value innovation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Decision-Making: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Context-aware, real-time adaptive planning across business functions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Resilience: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Proactive monitoring, instant issue resolution, reduced MTTR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9752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53520"/>
            <a:ext cx="7924800" cy="9752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81163"/>
            <a:ext cx="7924800" cy="9752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708806"/>
            <a:ext cx="7924800" cy="9752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ROI Framework: Four Dimensions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554482"/>
            <a:ext cx="7616952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38200" y="1869877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 per process; incremental revenue; margin expansion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682120"/>
            <a:ext cx="7616952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38200" y="2997519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reduction; NPS growth; conversion rate lift; lifetime value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809763"/>
            <a:ext cx="7616952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38200" y="4125158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rates; cycle time savings; resource efficiency; MTTR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937406"/>
            <a:ext cx="7616952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38200" y="525280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differentiation; innovation velocity; talent retention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61" y="956309"/>
            <a:ext cx="25602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672591"/>
            <a:ext cx="7620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400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ROI spans four dimensions:</a:t>
            </a:r>
            <a:pPr algn="l" indent="0" marL="0">
              <a:lnSpc>
                <a:spcPts val="4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Financial gains, customer impact, operational excellence, strategic advantage</a:t>
            </a:r>
            <a:endParaRPr lang="en-US" sz="1500" dirty="0"/>
          </a:p>
          <a:p>
            <a:pPr algn="l" marL="342900" indent="-342900">
              <a:lnSpc>
                <a:spcPts val="400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multiplies value:</a:t>
            </a:r>
            <a:pPr algn="l" indent="0" marL="0">
              <a:lnSpc>
                <a:spcPts val="4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Autonomous workflows + human focus = accelerated transformation</a:t>
            </a:r>
            <a:endParaRPr lang="en-US" sz="1500" dirty="0"/>
          </a:p>
          <a:p>
            <a:pPr algn="l" marL="342900" indent="-342900">
              <a:lnSpc>
                <a:spcPts val="400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Foundry delivers:</a:t>
            </a:r>
            <a:pPr algn="l" indent="0" marL="0">
              <a:lnSpc>
                <a:spcPts val="4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 optimization + performance + governance + business value at scale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2025-11-25T06:49:41Z</dcterms:created>
  <dcterms:modified xsi:type="dcterms:W3CDTF">2025-11-25T06:49:41Z</dcterms:modified>
</cp:coreProperties>
</file>